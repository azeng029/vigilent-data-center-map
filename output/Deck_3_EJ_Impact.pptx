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B2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Source Sans Pro"/>
              </a:rPr>
              <a:t>Beyond Cost Savings: Vigilent as an Environmental Justice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C4DE"/>
                </a:solidFill>
                <a:latin typeface="Source Sans Pro"/>
              </a:rPr>
              <a:t>How intelligent cooling optimization reduces energy burden, conserves water, and helps de-marginalize overburdened communities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3200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075E8"/>
                </a:solidFill>
                <a:latin typeface="Source Sans Pro"/>
              </a:rPr>
              <a:t>INTERACTIVE EJ CALCULATOR — 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16152"/>
            <a:ext cx="5760720" cy="4846320"/>
          </a:xfrm>
          <a:prstGeom prst="roundRect">
            <a:avLst>
              <a:gd name="adj" fmla="val 2000"/>
            </a:avLst>
          </a:prstGeom>
          <a:solidFill>
            <a:srgbClr val="E8EBF0"/>
          </a:solidFill>
          <a:ln w="6350"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j_screenshot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289304"/>
            <a:ext cx="5614416" cy="4700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11733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8D"/>
                </a:solidFill>
                <a:latin typeface="Source Sans Pro"/>
              </a:rPr>
              <a:t>Ashburn, VA (20147) — 20 MW data center, PUE 1.55, 10% load growth, 10% energy reduction with Vigilent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960120"/>
            <a:ext cx="5532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285B"/>
                </a:solidFill>
                <a:latin typeface="Source Sans Pro"/>
              </a:rPr>
              <a:t>VIRGINIA CASE STUDY — ASHBURN (20147)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188720"/>
            <a:ext cx="5532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B8D"/>
                </a:solidFill>
                <a:latin typeface="Source Sans Pro"/>
              </a:rPr>
              <a:t>Largest US data center market  |  SRVC eGRID subregion  |  20 MW facility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1732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1737360" cy="3200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47218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6B7B8D"/>
                </a:solidFill>
                <a:latin typeface="Source Sans Pro"/>
              </a:rPr>
              <a:t>CO₂ AVOIDED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6184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7A7"/>
                </a:solidFill>
                <a:latin typeface="Source Sans Pro"/>
              </a:rPr>
              <a:t>8,771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947672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4A4A"/>
                </a:solidFill>
                <a:latin typeface="Source Sans Pro"/>
              </a:rPr>
              <a:t>metric tons/yr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41732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417320"/>
            <a:ext cx="1737360" cy="32004"/>
          </a:xfrm>
          <a:prstGeom prst="rect">
            <a:avLst/>
          </a:prstGeom>
          <a:solidFill>
            <a:srgbClr val="10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47218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6B7B8D"/>
                </a:solidFill>
                <a:latin typeface="Source Sans Pro"/>
              </a:rPr>
              <a:t>WATER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16184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75E8"/>
                </a:solidFill>
                <a:latin typeface="Source Sans Pro"/>
              </a:rPr>
              <a:t>198M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1947672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4A4A"/>
                </a:solidFill>
                <a:latin typeface="Source Sans Pro"/>
              </a:rPr>
              <a:t>gallons/yr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141732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12680" y="1417320"/>
            <a:ext cx="1737360" cy="32004"/>
          </a:xfrm>
          <a:prstGeom prst="rect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1472184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6B7B8D"/>
                </a:solidFill>
                <a:latin typeface="Source Sans Pro"/>
              </a:rPr>
              <a:t>GRID RELIEF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832" y="16184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AC01"/>
                </a:solidFill>
                <a:latin typeface="Source Sans Pro"/>
              </a:rPr>
              <a:t>3.1 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1947672"/>
            <a:ext cx="1600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4A4A4A"/>
                </a:solidFill>
                <a:latin typeface="Source Sans Pro"/>
              </a:rPr>
              <a:t>capacity freed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2304288"/>
            <a:ext cx="5532120" cy="347472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/>
            <a:r>
              <a:rPr sz="800" b="1">
                <a:solidFill>
                  <a:srgbClr val="1B285B"/>
                </a:solidFill>
                <a:latin typeface="Source Sans Pro"/>
              </a:rPr>
              <a:t>= 1,907 cars removed  </a:t>
            </a:r>
            <a:r>
              <a:rPr sz="800" b="0">
                <a:solidFill>
                  <a:srgbClr val="6B7B8D"/>
                </a:solidFill>
                <a:latin typeface="Source Sans Pro"/>
              </a:rPr>
              <a:t>|</a:t>
            </a:r>
            <a:r>
              <a:rPr sz="800" b="1">
                <a:solidFill>
                  <a:srgbClr val="1B285B"/>
                </a:solidFill>
                <a:latin typeface="Source Sans Pro"/>
              </a:rPr>
              <a:t>  2,845 homes powered  </a:t>
            </a:r>
            <a:r>
              <a:rPr sz="800" b="0">
                <a:solidFill>
                  <a:srgbClr val="6B7B8D"/>
                </a:solidFill>
                <a:latin typeface="Source Sans Pro"/>
              </a:rPr>
              <a:t>|</a:t>
            </a:r>
            <a:r>
              <a:rPr sz="800" b="1">
                <a:solidFill>
                  <a:srgbClr val="1B285B"/>
                </a:solidFill>
                <a:latin typeface="Source Sans Pro"/>
              </a:rPr>
              <a:t>  300 Olympic pools saved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779776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285B"/>
                </a:solidFill>
                <a:latin typeface="Source Sans Pro"/>
              </a:rPr>
              <a:t>COMMUNITY MARGINALIZATION SNAPSHOT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2999232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2999232"/>
            <a:ext cx="45720" cy="502920"/>
          </a:xfrm>
          <a:prstGeom prst="rect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01752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B285B"/>
                </a:solidFill>
                <a:latin typeface="Source Sans Pro"/>
              </a:rPr>
              <a:t>Energy Burden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163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AC01"/>
                </a:solidFill>
                <a:latin typeface="Source Sans Pro"/>
              </a:rPr>
              <a:t>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723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>
                <a:solidFill>
                  <a:srgbClr val="6B7B8D"/>
                </a:solidFill>
                <a:latin typeface="Source Sans Pro"/>
              </a:rPr>
              <a:t>Nat'l avg: 3.1%</a:t>
            </a:r>
          </a:p>
          <a:p>
            <a:r>
              <a:rPr sz="750" b="1">
                <a:solidFill>
                  <a:srgbClr val="25AC01"/>
                </a:solidFill>
                <a:latin typeface="Source Sans Pro"/>
              </a:rPr>
              <a:t>6% below avg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999232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999232"/>
            <a:ext cx="45720" cy="502920"/>
          </a:xfrm>
          <a:prstGeom prst="rect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017520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B285B"/>
                </a:solidFill>
                <a:latin typeface="Source Sans Pro"/>
              </a:rPr>
              <a:t>Water Bill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316382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AC01"/>
                </a:solidFill>
                <a:latin typeface="Source Sans Pro"/>
              </a:rPr>
              <a:t>$36/mo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0723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>
                <a:solidFill>
                  <a:srgbClr val="6B7B8D"/>
                </a:solidFill>
                <a:latin typeface="Source Sans Pro"/>
              </a:rPr>
              <a:t>Nat'l avg: $42/mo</a:t>
            </a:r>
          </a:p>
          <a:p>
            <a:r>
              <a:rPr sz="750" b="1">
                <a:solidFill>
                  <a:srgbClr val="25AC01"/>
                </a:solidFill>
                <a:latin typeface="Source Sans Pro"/>
              </a:rPr>
              <a:t>13% below avg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575304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3575304"/>
            <a:ext cx="45720" cy="502920"/>
          </a:xfrm>
          <a:prstGeom prst="rect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4808" y="3593592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B285B"/>
                </a:solidFill>
                <a:latin typeface="Source Sans Pro"/>
              </a:rPr>
              <a:t>Poverty 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3739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AC01"/>
                </a:solidFill>
                <a:latin typeface="Source Sans Pro"/>
              </a:rPr>
              <a:t>9.7%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6484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>
                <a:solidFill>
                  <a:srgbClr val="6B7B8D"/>
                </a:solidFill>
                <a:latin typeface="Source Sans Pro"/>
              </a:rPr>
              <a:t>Nat'l avg: 12.4%</a:t>
            </a:r>
          </a:p>
          <a:p>
            <a:r>
              <a:rPr sz="750" b="1">
                <a:solidFill>
                  <a:srgbClr val="25AC01"/>
                </a:solidFill>
                <a:latin typeface="Source Sans Pro"/>
              </a:rPr>
              <a:t>22% below avg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3575304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8F9FB"/>
          </a:solidFill>
          <a:ln w="6350">
            <a:solidFill>
              <a:srgbClr val="DE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3575304"/>
            <a:ext cx="45720" cy="502920"/>
          </a:xfrm>
          <a:prstGeom prst="rect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3728" y="3593592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1B285B"/>
                </a:solidFill>
                <a:latin typeface="Source Sans Pro"/>
              </a:rPr>
              <a:t>Demographic Idx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53728" y="3739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5AC01"/>
                </a:solidFill>
                <a:latin typeface="Source Sans Pro"/>
              </a:rPr>
              <a:t>28.9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6484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>
                <a:solidFill>
                  <a:srgbClr val="6B7B8D"/>
                </a:solidFill>
                <a:latin typeface="Source Sans Pro"/>
              </a:rPr>
              <a:t>Nat'l avg: 32.2</a:t>
            </a:r>
          </a:p>
          <a:p>
            <a:r>
              <a:rPr sz="750" b="1">
                <a:solidFill>
                  <a:srgbClr val="25AC01"/>
                </a:solidFill>
                <a:latin typeface="Source Sans Pro"/>
              </a:rPr>
              <a:t>10% below avg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224528"/>
            <a:ext cx="5532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285B"/>
                </a:solidFill>
                <a:latin typeface="Source Sans Pro"/>
              </a:rPr>
              <a:t>THE VIGILENT DIFFERENTIATOR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4453128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6350">
            <a:solidFill>
              <a:srgbClr val="E8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/>
          <a:lstStyle/>
          <a:p>
            <a:pPr algn="ctr"/>
            <a:r>
              <a:rPr sz="700" b="1">
                <a:solidFill>
                  <a:srgbClr val="A07070"/>
                </a:solidFill>
                <a:latin typeface="Source Sans Pro"/>
              </a:rPr>
              <a:t>COMPETITORS</a:t>
            </a:r>
          </a:p>
          <a:p>
            <a:pPr>
              <a:spcBef>
                <a:spcPts val="300"/>
              </a:spcBef>
            </a:pPr>
            <a:r>
              <a:rPr sz="750" b="0">
                <a:solidFill>
                  <a:srgbClr val="906060"/>
                </a:solidFill>
                <a:latin typeface="Source Sans Pro"/>
              </a:rPr>
              <a:t>"We reduce cooling energy by X%, saving $Y/yr."</a:t>
            </a:r>
          </a:p>
          <a:p>
            <a:pPr>
              <a:spcBef>
                <a:spcPts val="400"/>
              </a:spcBef>
            </a:pPr>
            <a:r>
              <a:rPr sz="650" b="0">
                <a:solidFill>
                  <a:srgbClr val="B08080"/>
                </a:solidFill>
                <a:latin typeface="Source Sans Pro"/>
              </a:rPr>
              <a:t>Pure cost optimization — treats energy as a commodity, ignores community impact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4453128"/>
            <a:ext cx="2651760" cy="9601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6350">
            <a:solidFill>
              <a:srgbClr val="25A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/>
          <a:lstStyle/>
          <a:p>
            <a:pPr algn="ctr"/>
            <a:r>
              <a:rPr sz="700" b="1">
                <a:solidFill>
                  <a:srgbClr val="25AC01"/>
                </a:solidFill>
                <a:latin typeface="Source Sans Pro"/>
              </a:rPr>
              <a:t>VIGILENT</a:t>
            </a:r>
          </a:p>
          <a:p>
            <a:pPr>
              <a:spcBef>
                <a:spcPts val="300"/>
              </a:spcBef>
            </a:pPr>
            <a:r>
              <a:rPr sz="750" b="0">
                <a:solidFill>
                  <a:srgbClr val="4A4A4A"/>
                </a:solidFill>
                <a:latin typeface="Source Sans Pro"/>
              </a:rPr>
              <a:t>Measurable environmental justice impact — quantified grid relief, upstream water savings, and CO₂ reduction </a:t>
            </a:r>
            <a:r>
              <a:rPr sz="750" b="1">
                <a:solidFill>
                  <a:srgbClr val="25AC01"/>
                </a:solidFill>
                <a:latin typeface="Source Sans Pro"/>
              </a:rPr>
              <a:t>tied to community marginalization metrics.</a:t>
            </a:r>
          </a:p>
          <a:p>
            <a:pPr>
              <a:spcBef>
                <a:spcPts val="300"/>
              </a:spcBef>
            </a:pPr>
            <a:r>
              <a:rPr sz="700" b="1">
                <a:solidFill>
                  <a:srgbClr val="0097A7"/>
                </a:solidFill>
                <a:latin typeface="Source Sans Pro"/>
              </a:rPr>
              <a:t>Every optimization = community benefit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5596128"/>
            <a:ext cx="5532120" cy="5120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0800" y="5632704"/>
            <a:ext cx="201168" cy="201168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750" b="1">
                <a:solidFill>
                  <a:srgbClr val="FFFFFF"/>
                </a:solidFill>
                <a:latin typeface="Source Sans Pro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7688" y="55961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6B7B8D"/>
                </a:solidFill>
                <a:latin typeface="Source Sans Pro"/>
              </a:rPr>
              <a:t>COST</a:t>
            </a:r>
          </a:p>
          <a:p>
            <a:r>
              <a:rPr sz="650" b="0">
                <a:solidFill>
                  <a:srgbClr val="4A4A4A"/>
                </a:solidFill>
                <a:latin typeface="Source Sans Pro"/>
              </a:rPr>
              <a:t>Payback &amp;
savings</a:t>
            </a:r>
          </a:p>
        </p:txBody>
      </p:sp>
      <p:sp>
        <p:nvSpPr>
          <p:cNvPr id="55" name="Oval 54"/>
          <p:cNvSpPr/>
          <p:nvPr/>
        </p:nvSpPr>
        <p:spPr>
          <a:xfrm>
            <a:off x="7754112" y="5632704"/>
            <a:ext cx="201168" cy="201168"/>
          </a:xfrm>
          <a:prstGeom prst="ellipse">
            <a:avLst/>
          </a:prstGeom>
          <a:solidFill>
            <a:srgbClr val="107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750" b="1">
                <a:solidFill>
                  <a:srgbClr val="FFFFFF"/>
                </a:solidFill>
                <a:latin typeface="Source Sans Pro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55961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1075E8"/>
                </a:solidFill>
                <a:latin typeface="Source Sans Pro"/>
              </a:rPr>
              <a:t>GRID</a:t>
            </a:r>
          </a:p>
          <a:p>
            <a:r>
              <a:rPr sz="650" b="0">
                <a:solidFill>
                  <a:srgbClr val="4A4A4A"/>
                </a:solidFill>
                <a:latin typeface="Source Sans Pro"/>
              </a:rPr>
              <a:t>Capacity
relief</a:t>
            </a:r>
          </a:p>
        </p:txBody>
      </p:sp>
      <p:sp>
        <p:nvSpPr>
          <p:cNvPr id="57" name="Oval 56"/>
          <p:cNvSpPr/>
          <p:nvPr/>
        </p:nvSpPr>
        <p:spPr>
          <a:xfrm>
            <a:off x="9107424" y="5632704"/>
            <a:ext cx="201168" cy="201168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750" b="1">
                <a:solidFill>
                  <a:srgbClr val="FFFFFF"/>
                </a:solidFill>
                <a:latin typeface="Source Sans Pro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54312" y="55961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0097A7"/>
                </a:solidFill>
                <a:latin typeface="Source Sans Pro"/>
              </a:rPr>
              <a:t>COMMUNITY</a:t>
            </a:r>
          </a:p>
          <a:p>
            <a:r>
              <a:rPr sz="650" b="0">
                <a:solidFill>
                  <a:srgbClr val="4A4A4A"/>
                </a:solidFill>
                <a:latin typeface="Source Sans Pro"/>
              </a:rPr>
              <a:t>De-margin-
alization</a:t>
            </a:r>
          </a:p>
        </p:txBody>
      </p:sp>
      <p:sp>
        <p:nvSpPr>
          <p:cNvPr id="59" name="Oval 58"/>
          <p:cNvSpPr/>
          <p:nvPr/>
        </p:nvSpPr>
        <p:spPr>
          <a:xfrm>
            <a:off x="10460736" y="5632704"/>
            <a:ext cx="201168" cy="201168"/>
          </a:xfrm>
          <a:prstGeom prst="ellipse">
            <a:avLst/>
          </a:prstGeom>
          <a:solidFill>
            <a:srgbClr val="25AC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750" b="1">
                <a:solidFill>
                  <a:srgbClr val="FFFFFF"/>
                </a:solidFill>
                <a:latin typeface="Source Sans Pro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07624" y="55961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25AC01"/>
                </a:solidFill>
                <a:latin typeface="Source Sans Pro"/>
              </a:rPr>
              <a:t>ESG</a:t>
            </a:r>
          </a:p>
          <a:p>
            <a:r>
              <a:rPr sz="650" b="0">
                <a:solidFill>
                  <a:srgbClr val="4A4A4A"/>
                </a:solidFill>
                <a:latin typeface="Source Sans Pro"/>
              </a:rPr>
              <a:t>EJ compliance
&amp; equity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99248" y="568756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8D"/>
                </a:solidFill>
                <a:latin typeface="Source Sans Pro"/>
              </a:rPr>
              <a:t>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568756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8D"/>
                </a:solidFill>
                <a:latin typeface="Source Sans Pro"/>
              </a:rP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5872" y="5687568"/>
            <a:ext cx="109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B8D"/>
                </a:solidFill>
                <a:latin typeface="Source Sans Pro"/>
              </a:rPr>
              <a:t>▶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55080" y="6236208"/>
            <a:ext cx="5532120" cy="475488"/>
          </a:xfrm>
          <a:prstGeom prst="roundRect">
            <a:avLst>
              <a:gd name="adj" fmla="val 5000"/>
            </a:avLst>
          </a:prstGeom>
          <a:solidFill>
            <a:srgbClr val="1B2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/>
          <a:lstStyle/>
          <a:p>
            <a:pPr algn="ctr"/>
            <a:r>
              <a:rPr sz="850" b="1">
                <a:solidFill>
                  <a:srgbClr val="0097A7"/>
                </a:solidFill>
                <a:latin typeface="Source Sans Pro"/>
              </a:rPr>
              <a:t>Only Vigilent </a:t>
            </a:r>
            <a:r>
              <a:rPr sz="800" b="0">
                <a:solidFill>
                  <a:srgbClr val="FFFFFF"/>
                </a:solidFill>
                <a:latin typeface="Source Sans Pro"/>
              </a:rPr>
              <a:t>quantifies all four layers — transforming every cooling optimization into a </a:t>
            </a:r>
            <a:r>
              <a:rPr sz="850" b="1">
                <a:solidFill>
                  <a:srgbClr val="7CFC7C"/>
                </a:solidFill>
                <a:latin typeface="Source Sans Pro"/>
              </a:rPr>
              <a:t>measurable community impact story </a:t>
            </a:r>
            <a:r>
              <a:rPr sz="800" b="0">
                <a:solidFill>
                  <a:srgbClr val="FFFFFF"/>
                </a:solidFill>
                <a:latin typeface="Source Sans Pro"/>
              </a:rPr>
              <a:t>that satisfies ESG mandates and EJ compliance requirements.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651967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6B7B8D"/>
                </a:solidFill>
                <a:latin typeface="Source Sans Pro"/>
              </a:rPr>
              <a:t>Sources: EPA eGRID2022 · DOE LEAD Tool · EIA RECS 2020 · ACEEE Energy Burden Report · Census ACS 2023 · EPA EJScreen v2.3 · NREL SLOPE · DataPandas.org Water Rates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65196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>
                <a:solidFill>
                  <a:srgbClr val="1B285B"/>
                </a:solidFill>
                <a:latin typeface="Source Sans Pro"/>
              </a:rPr>
              <a:t>Vigilent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